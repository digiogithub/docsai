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Lo que no se modela</a:t>
            </a:r>
          </a:p>
        </p:txBody>
      </p:sp>
      <p:grpSp>
        <p:nvGrpSpPr>
          <p:cNvPr id="7" name="Grupo 1"/>
          <p:cNvGrpSpPr/>
          <p:nvPr/>
        </p:nvGrpSpPr>
        <p:grpSpPr>
          <a:xfrm>
            <a:off x="838200" y="2000000"/>
            <a:ext cx="3000000" cy="1200000"/>
            <a:chOff x="838200" y="2000000"/>
            <a:chExt cx="3000000" cy="1200000"/>
          </a:xfrm>
        </p:grpSpPr>
        <p:sp>
          <p:nvSpPr>
            <p:cNvPr id="8" name="Caja agrupada 1"/>
            <p:cNvSpPr>
              <a:spLocks noGrp="1"/>
            </p:cNvSpPr>
            <p:nvPr/>
          </p:nvSpPr>
          <p:spPr>
            <a:xfrm>
              <a:off x="838200" y="2000000"/>
              <a:ext cx="1400000" cy="500000"/>
            </a:xfrm>
            <a:prstGeom prst="rect">
              <a:avLst/>
            </a:prstGeom>
          </p:spPr>
          <p:txBody>
            <a:bodyPr/>
            <a:lstStyle/>
            <a:p>
              <a:r>
                <a:rPr lang="es-ES"/>
                <a:t>Dentro del grupo</a:t>
              </a:r>
            </a:p>
          </p:txBody>
        </p:sp>
        <p:sp>
          <p:nvSpPr>
            <p:cNvPr id="9" name="Caja agrupada 2"/>
            <p:cNvSpPr>
              <a:spLocks noGrp="1"/>
            </p:cNvSpPr>
            <p:nvPr/>
          </p:nvSpPr>
          <p:spPr>
            <a:xfrm>
              <a:off x="2400000" y="2000000"/>
              <a:ext cx="1400000" cy="500000"/>
            </a:xfrm>
            <a:prstGeom prst="rect">
              <a:avLst/>
            </a:prstGeom>
          </p:spPr>
          <p:txBody>
            <a:bodyPr/>
            <a:lstStyle/>
            <a:p>
              <a:r>
                <a:rPr lang="es-ES"/>
                <a:t>También dentro</a:t>
              </a:r>
            </a:p>
          </p:txBody>
        </p:sp>
      </p:grpSp>
      <p:sp>
        <p:nvSpPr>
          <p:cNvPr id="10" name="Triángulo libre"/>
          <p:cNvSpPr/>
          <p:nvPr/>
        </p:nvSpPr>
        <p:spPr>
          <a:xfrm>
            <a:off x="5000000" y="2000000"/>
            <a:ext cx="1200000" cy="1200000"/>
          </a:xfrm>
          <a:custGeom>
            <a:avLst/>
            <a:gdLst/>
            <a:pathLst>
              <a:path w="1200000" h="1200000">
                <a:moveTo>
                  <a:pt x="0" y="1200000"/>
                </a:moveTo>
                <a:lnTo>
                  <a:pt x="600000" y="0"/>
                </a:lnTo>
                <a:lnTo>
                  <a:pt x="1200000" y="1200000"/>
                </a:lnTo>
                <a:close/>
              </a:path>
            </a:pathLst>
          </a:custGeom>
        </p:spPr>
        <p:txBody>
          <a:bodyPr/>
          <a:lstStyle/>
          <a:p>
            <a:r>
              <a:rPr lang="es-ES"/>
              <a:t>Etiqueta del triángulo</a:t>
            </a:r>
          </a:p>
        </p:txBody>
      </p:sp>
    </p:spTree>
  </p:cSld>
  <p:transition spd="slow" advClick="1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Preservación en bruto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